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8"/>
                </a:solidFill>
                <a:latin typeface="Calibri"/>
              </a:rPr>
              <a:t>Squirrel AI — адаптивное обучение на базе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松鼠AI  ·  Шанхай, Китай  ·  основана в 2014  ·  первый EdTech-единорог Китая в адаптивном обучении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КОМПАНИЯ В ЦИФРАХ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26000"/>
            <a:ext cx="213624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116000"/>
            <a:ext cx="184824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Студентов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43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по всему миру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4240" y="1026000"/>
            <a:ext cx="213624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8240" y="1116000"/>
            <a:ext cx="184824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Школ-партнёров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60 000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используют платформу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8480" y="1026000"/>
            <a:ext cx="213624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2480" y="1116000"/>
            <a:ext cx="184824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Учебных центров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1 900+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в 300+ городах Китая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2720" y="1026000"/>
            <a:ext cx="213624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720" y="1116000"/>
            <a:ext cx="184824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Привлечено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$128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Series C-II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16960" y="1026000"/>
            <a:ext cx="213624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60960" y="1116000"/>
            <a:ext cx="184824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Данных обучения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10 млрд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поведенческих записей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196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ЧТО ДЕЛАЕТ SQUIRREL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2196000"/>
            <a:ext cx="3632400" cy="115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2286000"/>
            <a:ext cx="33444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Адаптивное K-12 обучение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ИИ-платформа для персонализированного обучения школьников. Разбивает предметы на тысячи «нано-знаний» (10 000+ точек только по математике) и строит индивидуальный маршрут для каждого ученика.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0400" y="2196000"/>
            <a:ext cx="3632400" cy="115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4400" y="2286000"/>
            <a:ext cx="33444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Диагностика и рекомендации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Система находит конкретные пробелы в знаниях ученика и выстраивает оптимальный путь их устранения. Точность подбора заданий выросла с 78% до 93% благодаря Large Adaptive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0800" y="2196000"/>
            <a:ext cx="3632400" cy="115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4800" y="2286000"/>
            <a:ext cx="33444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Планшет + ИИ-репетитор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Ученик работает на планшете Squirrel AI. Система отслеживает эмоции (скука, фрустрация), принимает голосовой и текстовый ввод, ведёт 100+ сценариев диалога.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4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ПРИЗНАНИЕ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708000"/>
            <a:ext cx="111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3726C"/>
                </a:solidFill>
                <a:latin typeface="Calibri"/>
              </a:rPr>
              <a:t>TIME Best Inventions 2025  ·  5 статей на ACL 2025  ·  IEEE P3428 Standard (председатель — основатель Squirrel AI)  ·  Совместная лаборатория с CMU  ·  Кейс Stanford GSB  ·  Выход на рынок США запланирован на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8"/>
                </a:solidFill>
                <a:latin typeface="Calibri"/>
              </a:rPr>
              <a:t>Squirrel AI Engine — архитектура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По материалам презентации в офисе Squirrel AI, Шанхай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ТРИ СЛОЯ ПЛАТФОРМЫ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26000"/>
            <a:ext cx="3632400" cy="129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116000"/>
            <a:ext cx="33444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Слой знаний (Knowledge Layer)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Knowledge Graph: 10 000+ точек знаний по математике, связанных в граф зависимостей. Content Map (Item Bank), Learning Map, Mistake Reasoning Ontology — онтологии контента, учебных путей и типичных ошибок.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0400" y="1026000"/>
            <a:ext cx="3632400" cy="129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4400" y="1116000"/>
            <a:ext cx="33444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Слой моделей (Model Layer)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Large Adaptive Model (LAM) — первая в мире мультимодальная адаптивная модель для образования. Включает: Knowledge Tracing (Learner Model), Recommendation Engine, Assessment Engine, Teaching Routing Engine, RAG-пайплайн с MoE multi-modal LLMs.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0800" y="1026000"/>
            <a:ext cx="3632400" cy="129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4800" y="1116000"/>
            <a:ext cx="33444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Слой агентов (Agent Layer)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Squirrel AI Adaptive Agents: Data Analysis Agent, Teaching Autonomous Driving Agent, Mathematics Q&amp;A Agent, Chinese Language Comprehension Agent. Коллаборативные ИИ-агенты для аналитики, преподавания, рассуждений и проверки понимания.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50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КАК РАБОТАЕТ АДАПТИВНЫЙ ЦИКЛ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600" y="2736000"/>
            <a:ext cx="1872000" cy="46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Диагностика
(Assessment)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8600" y="2889000"/>
            <a:ext cx="288000" cy="162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64600" y="2736000"/>
            <a:ext cx="1872000" cy="46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Профиль ученика
(Knowledge Tracing)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4600" y="2889000"/>
            <a:ext cx="288000" cy="162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0600" y="2736000"/>
            <a:ext cx="1872000" cy="46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Рекомендация
(Learning Path)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50600" y="2889000"/>
            <a:ext cx="288000" cy="162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56600" y="2736000"/>
            <a:ext cx="1872000" cy="468000"/>
          </a:xfrm>
          <a:prstGeom prst="roundRect">
            <a:avLst>
              <a:gd name="adj" fmla="val 6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Обучение
(Adaptive Content)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46600" y="2889000"/>
            <a:ext cx="288000" cy="162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2600" y="2736000"/>
            <a:ext cx="1872000" cy="46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Обратная связь
(Feedback Loop)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38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ИНФРАСТРУКТУРА (LMS CORE)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60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LRS (Learning Record Store)  ·  Real-time Event Collector  ·  MIBA Event Collector  ·  Dialog-Based HUI  ·  Assessment Service  ·  Navigation Service  ·  Monitoring &amp; Alert Services  ·  LMS Presentation &amp; Administration Services  ·  Control &amp; Feedback System  ·  Supervision System  ·  Human-in-the-Loop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8"/>
                </a:solidFill>
                <a:latin typeface="Calibri"/>
              </a:rPr>
              <a:t>Squirrel AI — результаты адаптивного 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Данные с планшета ученика, демонстрация в офисе Squirrel AI, Шанхай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ДО И ПОСЛЕ: ПРОГРЕСС ПО УЧЕБНЫМ ЦЕЛЯМ (LEARNING OBJECTIVES)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43999"/>
            <a:ext cx="5466600" cy="1980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8000" y="1133999"/>
            <a:ext cx="1800000" cy="198000"/>
          </a:xfrm>
          <a:prstGeom prst="roundRect">
            <a:avLst>
              <a:gd name="adj" fmla="val 6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91C1C"/>
                </a:solidFill>
                <a:latin typeface="Calibri"/>
              </a:rPr>
              <a:t>До обучения (Before)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1403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two quantities: Progress 70%, Proficiency: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01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quantities to find equality: Progress 94%, Proficiency: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1799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two numbers using words: Progress 35%, Proficiency: Unmastered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1997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Introduction to comparison symbols: Progress 35%, Proficiency: Unmastered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195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numbers using symbols: Progress 35%, Proficiency: Unmastered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393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Fill in missing symbols/numbers: Progress 35%, Proficiency: Unmastered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2663999"/>
            <a:ext cx="517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Calibri"/>
              </a:rPr>
              <a:t>Средний прогресс: 35–70%  ·  Большинство тем: Unmastered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6600" y="1043999"/>
            <a:ext cx="5466600" cy="1980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4600" y="1133999"/>
            <a:ext cx="1958399" cy="19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F6E56"/>
                </a:solidFill>
                <a:latin typeface="Calibri"/>
              </a:rPr>
              <a:t>После обучения (After)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0600" y="1403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two quantities: Progress 94%, Proficiency: 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0600" y="1601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quantities to find equality: — (уже освоено)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600" y="1799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two numbers using words: Progress 91%, Proficiency: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600" y="1997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Introduction to comparison symbols: Progress 94%, Proficiency: 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600" y="2195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Compare numbers using symbols: Progress 91%, Proficiency: 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0600" y="2393999"/>
            <a:ext cx="5178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3726C"/>
                </a:solidFill>
                <a:latin typeface="Calibri"/>
              </a:rPr>
              <a:t>• Fill in missing symbols/numbers: Progress 91%, Proficiency: Good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600" y="2663999"/>
            <a:ext cx="517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6E56"/>
                </a:solidFill>
                <a:latin typeface="Calibri"/>
              </a:rPr>
              <a:t>Средний прогресс: 91–94%  ·  Все темы: Good / Mastered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275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УЛУЧШЕНИЕ ПО ТЕМАМ (IMPROVEMENT)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509999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3599999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Compare quantities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+24%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с 70% до 94%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5300" y="3509999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9300" y="3599999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Comparison using words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+56%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с 35% до 91%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0600" y="3509999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4600" y="3599999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Comparison symbols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+59%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с 35% до 94%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5900" y="3509999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9900" y="3599999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Numbers using symbols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+56%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с 35% до 91%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4409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ТОЧНОСТЬ ОТВЕТОВ (ANSWER ACCURACY)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4625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3726C"/>
                </a:solidFill>
                <a:latin typeface="Calibri"/>
              </a:rPr>
              <a:t>После адаптивного обучения: 88–100% точности ответов по всем освоенным темам  ·  Время на тему: от 16 секунд до 2 мин 19 сек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
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8"/>
                </a:solidFill>
                <a:latin typeface="Calibri"/>
              </a:rPr>
              <a:t>Китай: образование и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3726C"/>
                </a:solidFill>
                <a:latin typeface="Calibri"/>
              </a:rPr>
              <a:t>Ключевые цифры  ·  данные Минобразования КНР, 2023–2025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6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НАСЕЛЕНИЕ И СИСТЕМА ОБРАЗОВАНИЯ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115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205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Население Китая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1.4 млрд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5300" y="1115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300" y="1205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Всего учащихся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~340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все уровни, 2023–2024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0600" y="1115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4600" y="1205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K-12 (1–12 класс)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~195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начальная + средняя школа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5900" y="1115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9900" y="1205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Дошкольники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41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детские сады,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051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ВОРОНКА — ОТ ШКОЛЫ ДО ВУЗА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285999"/>
            <a:ext cx="1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A18"/>
                </a:solidFill>
                <a:latin typeface="Calibri"/>
              </a:rPr>
              <a:t>Сдают гаокао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88000" y="2303999"/>
            <a:ext cx="8953200" cy="162000"/>
          </a:xfrm>
          <a:prstGeom prst="roundRect">
            <a:avLst>
              <a:gd name="adj" fmla="val 6000"/>
            </a:avLst>
          </a:prstGeom>
          <a:solidFill>
            <a:srgbClr val="EC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88000" y="2303999"/>
            <a:ext cx="8953200" cy="162000"/>
          </a:xfrm>
          <a:prstGeom prst="roundRect">
            <a:avLst>
              <a:gd name="adj" fmla="val 6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13.42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5200" y="2285999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519999"/>
            <a:ext cx="1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A18"/>
                </a:solidFill>
                <a:latin typeface="Calibri"/>
              </a:rPr>
              <a:t>Поступают в вузы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8000" y="2537999"/>
            <a:ext cx="8953200" cy="162000"/>
          </a:xfrm>
          <a:prstGeom prst="roundRect">
            <a:avLst>
              <a:gd name="adj" fmla="val 6000"/>
            </a:avLst>
          </a:prstGeom>
          <a:solidFill>
            <a:srgbClr val="EC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88000" y="2537999"/>
            <a:ext cx="8057880" cy="162000"/>
          </a:xfrm>
          <a:prstGeom prst="roundRect">
            <a:avLst>
              <a:gd name="adj" fmla="val 6000"/>
            </a:avLst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~12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5200" y="2519999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≈90%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753999"/>
            <a:ext cx="1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A18"/>
                </a:solidFill>
                <a:latin typeface="Calibri"/>
              </a:rPr>
              <a:t>В топ-100 вузов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88000" y="2771999"/>
            <a:ext cx="8953200" cy="162000"/>
          </a:xfrm>
          <a:prstGeom prst="roundRect">
            <a:avLst>
              <a:gd name="adj" fmla="val 6000"/>
            </a:avLst>
          </a:prstGeom>
          <a:solidFill>
            <a:srgbClr val="EC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88000" y="2771999"/>
            <a:ext cx="2685960" cy="162000"/>
          </a:xfrm>
          <a:prstGeom prst="roundRect">
            <a:avLst>
              <a:gd name="adj" fmla="val 6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~670 тыс.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5200" y="2753999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~5%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2987999"/>
            <a:ext cx="1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A18"/>
                </a:solidFill>
                <a:latin typeface="Calibri"/>
              </a:rPr>
              <a:t>В топ 9 вузов C9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88000" y="3005999"/>
            <a:ext cx="8953200" cy="162000"/>
          </a:xfrm>
          <a:prstGeom prst="roundRect">
            <a:avLst>
              <a:gd name="adj" fmla="val 6000"/>
            </a:avLst>
          </a:prstGeom>
          <a:solidFill>
            <a:srgbClr val="EC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88000" y="3005999"/>
            <a:ext cx="716256" cy="162000"/>
          </a:xfrm>
          <a:prstGeom prst="roundRect">
            <a:avLst>
              <a:gd name="adj" fmla="val 6000"/>
            </a:avLst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5200" y="2987999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&lt;1%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3275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УЧИТЕЛЯ И ВУЗЫ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0000" y="3509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000" y="3599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Учителей всего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18.9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на всех уровнях, 2023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45300" y="3509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9300" y="3599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В школах K-12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~16.8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нач. + ср. + ст. школа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0600" y="3509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4600" y="3599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В вузах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2.07 млн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штатных преподавателей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5900" y="3509999"/>
            <a:ext cx="2697300" cy="792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9900" y="3599999"/>
            <a:ext cx="240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Всего вузов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3 167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по состоянию на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4445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КЛЮЧЕВЫЕ ИИ-КОМПАНИИ КИТАЯ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4661999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3726C"/>
                </a:solidFill>
                <a:latin typeface="Calibri"/>
              </a:rPr>
              <a:t>Baidu, Alibaba, Tencent, ByteDance, Zhipu AI, Moonshot AI, MiniMax, Baichuan, 01.AI, SenseTime, iFlytek и ещё несколько десятков стартапов.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8"/>
                </a:solidFill>
                <a:latin typeface="Calibri"/>
              </a:rPr>
              <a:t>Где побывали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3726C"/>
                </a:solidFill>
                <a:latin typeface="Calibri"/>
              </a:rPr>
              <a:t>Китай  ·  15–20 марта 2026  ·  Шанхай, Ханчжоу, Шэньчжэнь, Пекин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ШАНХАЙ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954000"/>
            <a:ext cx="691200" cy="19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F6E56"/>
                </a:solidFill>
                <a:latin typeface="Calibri"/>
              </a:rPr>
              <a:t>EdTech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200" y="943200"/>
            <a:ext cx="103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Squirrel AI  </a:t>
            </a:r>
            <a:r>
              <a:rPr sz="900" b="0">
                <a:solidFill>
                  <a:srgbClr val="73726C"/>
                </a:solidFill>
                <a:latin typeface="Calibri"/>
              </a:rPr>
              <a:t>Адаптивное ИИ-обучение K-12, китайский пионер персонализированного обучения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170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85FA5"/>
                </a:solidFill>
                <a:latin typeface="Calibri"/>
              </a:rPr>
              <a:t>Вузы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000" y="1159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CCN (Консорциум вузов)  </a:t>
            </a:r>
            <a:r>
              <a:rPr sz="900" b="0">
                <a:solidFill>
                  <a:srgbClr val="73726C"/>
                </a:solidFill>
                <a:latin typeface="Calibri"/>
              </a:rPr>
              <a:t>Посредник между китайскими и зарубежными университетами: двойные дипломы, обмен студентами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386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34AB7"/>
                </a:solidFill>
                <a:latin typeface="Calibri"/>
              </a:rPr>
              <a:t>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000" y="1375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SAIRI  </a:t>
            </a:r>
            <a:r>
              <a:rPr sz="900" b="0">
                <a:solidFill>
                  <a:srgbClr val="73726C"/>
                </a:solidFill>
                <a:latin typeface="Calibri"/>
              </a:rPr>
              <a:t>Лаборатория ИИ при университете Цзяотун — компьютерное зрение и умное производство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1602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85FA5"/>
                </a:solidFill>
                <a:latin typeface="Calibri"/>
              </a:rPr>
              <a:t>Вузы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000" y="1591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Shanghai Jiao Tong University  </a:t>
            </a:r>
            <a:r>
              <a:rPr sz="900" b="0">
                <a:solidFill>
                  <a:srgbClr val="73726C"/>
                </a:solidFill>
                <a:latin typeface="Calibri"/>
              </a:rPr>
              <a:t>Топовый исследовательский университет, ИИ для авиации, цифровые двойники, спутники Бэйдоу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1818000"/>
            <a:ext cx="612000" cy="198000"/>
          </a:xfrm>
          <a:prstGeom prst="roundRect">
            <a:avLst>
              <a:gd name="adj" fmla="val 6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854F0B"/>
                </a:solidFill>
                <a:latin typeface="Calibri"/>
              </a:rPr>
              <a:t>Школа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2000" y="1807200"/>
            <a:ext cx="1039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Luwan Middle + Senior School  </a:t>
            </a:r>
            <a:r>
              <a:rPr sz="900" b="0">
                <a:solidFill>
                  <a:srgbClr val="73726C"/>
                </a:solidFill>
                <a:latin typeface="Calibri"/>
              </a:rPr>
              <a:t>Школа 6–12 классов с упором на PBL, робототехнику и 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088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ХАНЧЖОУ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2286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85FA5"/>
                </a:solidFill>
                <a:latin typeface="Calibri"/>
              </a:rPr>
              <a:t>Вузы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000" y="2275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Hangzhou Normal University  </a:t>
            </a:r>
            <a:r>
              <a:rPr sz="900" b="0">
                <a:solidFill>
                  <a:srgbClr val="73726C"/>
                </a:solidFill>
                <a:latin typeface="Calibri"/>
              </a:rPr>
              <a:t>Педагогический университет, альма-матер Джека Ма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2502000"/>
            <a:ext cx="612000" cy="198000"/>
          </a:xfrm>
          <a:prstGeom prst="roundRect">
            <a:avLst>
              <a:gd name="adj" fmla="val 6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854F0B"/>
                </a:solidFill>
                <a:latin typeface="Calibri"/>
              </a:rPr>
              <a:t>Школа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2000" y="2491200"/>
            <a:ext cx="1039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Школа в Ханчжоу  </a:t>
            </a:r>
            <a:r>
              <a:rPr sz="900" b="0">
                <a:solidFill>
                  <a:srgbClr val="73726C"/>
                </a:solidFill>
                <a:latin typeface="Calibri"/>
              </a:rPr>
              <a:t>Школа под покровительством Джека 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277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ШЭНЬЧЖЭНЬ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2970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85FA5"/>
                </a:solidFill>
                <a:latin typeface="Calibri"/>
              </a:rPr>
              <a:t>Вузы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6000" y="2959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SGIS Tsinghua  </a:t>
            </a:r>
            <a:r>
              <a:rPr sz="900" b="0">
                <a:solidFill>
                  <a:srgbClr val="73726C"/>
                </a:solidFill>
                <a:latin typeface="Calibri"/>
              </a:rPr>
              <a:t>Международная аспирантура Цинхуа, 6 инженерных направлений под нужды индустрии Шэньчжэня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240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ПЕКИН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438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85FA5"/>
                </a:solidFill>
                <a:latin typeface="Calibri"/>
              </a:rPr>
              <a:t>Вузы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6000" y="3427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Tsinghua University  </a:t>
            </a:r>
            <a:r>
              <a:rPr sz="900" b="0">
                <a:solidFill>
                  <a:srgbClr val="73726C"/>
                </a:solidFill>
                <a:latin typeface="Calibri"/>
              </a:rPr>
              <a:t>№1 в Китае, «китайский MIT», встреча с проф. Чжан — руководителем лаборатории ИИ в образовании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3654000"/>
            <a:ext cx="576000" cy="1980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34AB7"/>
                </a:solidFill>
                <a:latin typeface="Calibri"/>
              </a:rPr>
              <a:t>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6000" y="3643200"/>
            <a:ext cx="1042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ByteDance  </a:t>
            </a:r>
            <a:r>
              <a:rPr sz="900" b="0">
                <a:solidFill>
                  <a:srgbClr val="73726C"/>
                </a:solidFill>
                <a:latin typeface="Calibri"/>
              </a:rPr>
              <a:t>ИИ-лаборатория, модели Doubao и Seedance, полный стек от инфраструктуры до продуктов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0000" y="3870000"/>
            <a:ext cx="691200" cy="19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F6E56"/>
                </a:solidFill>
                <a:latin typeface="Calibri"/>
              </a:rPr>
              <a:t>EdTech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200" y="3859200"/>
            <a:ext cx="103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8"/>
                </a:solidFill>
                <a:latin typeface="Calibri"/>
              </a:rPr>
              <a:t>Yuanfudao  </a:t>
            </a:r>
            <a:r>
              <a:rPr sz="900" b="0">
                <a:solidFill>
                  <a:srgbClr val="73726C"/>
                </a:solidFill>
                <a:latin typeface="Calibri"/>
              </a:rPr>
              <a:t>EdTech, онлайн-репетиторство K-12 и ИИ-помощник по домашним заданиям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8"/>
                </a:solidFill>
                <a:latin typeface="Calibri"/>
              </a:rPr>
              <a:t>MAIC — Multi-Agent Interactive Classroom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3726C"/>
                </a:solidFill>
                <a:latin typeface="Calibri"/>
              </a:rPr>
              <a:t>Разработка School of Education, Tsinghua University  ·  2024–2025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ИДЕЯ — ОТ ПАССИВНОГО ВИДЕО К ЖИВОМУ КЛАССУ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26000"/>
            <a:ext cx="5466600" cy="1007999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116000"/>
            <a:ext cx="51786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MOOC — было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Студент смотрит записанное видео. Нет обратной связи, нет дискуссии, нет адаптации. Досматривают менее 10% записавшихся.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600" y="1026000"/>
            <a:ext cx="5466600" cy="1007999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0600" y="1116000"/>
            <a:ext cx="51786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MAIC — стало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Полноценный ИИ-класс: учитель, ассистент и одноклассники — все агенты. Дискуссии, квизы, симуляции в реальном времени. Адаптируется под каждого студента.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159998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РОЛИ АГЕНТОВ В КЛАССЕ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375998"/>
            <a:ext cx="2697300" cy="93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000" y="2465998"/>
            <a:ext cx="770400" cy="19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85FA5"/>
                </a:solidFill>
                <a:latin typeface="Calibri"/>
              </a:rPr>
              <a:t>Учитель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717998"/>
            <a:ext cx="248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Ведёт урок, объясняет концепции, адаптирует стиль под аудиторию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5300" y="2375998"/>
            <a:ext cx="2697300" cy="93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3300" y="2465998"/>
            <a:ext cx="928800" cy="19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F6E56"/>
                </a:solidFill>
                <a:latin typeface="Calibri"/>
              </a:rPr>
              <a:t>Ассистент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300" y="2717998"/>
            <a:ext cx="248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Помогает отстающим, проверяет задания, даёт мгновенную обратную связь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0600" y="2375998"/>
            <a:ext cx="2697300" cy="93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8600" y="2465998"/>
            <a:ext cx="1245600" cy="1980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34AB7"/>
                </a:solidFill>
                <a:latin typeface="Calibri"/>
              </a:rPr>
              <a:t>Одноклассники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8600" y="2717998"/>
            <a:ext cx="248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4 типа: Sparker, Questioner, Thinker, Note-taker — дебаты и дискуссии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5900" y="2375998"/>
            <a:ext cx="2697300" cy="93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63900" y="2465998"/>
            <a:ext cx="1166400" cy="198000"/>
          </a:xfrm>
          <a:prstGeom prst="roundRect">
            <a:avLst>
              <a:gd name="adj" fmla="val 6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854F0B"/>
                </a:solidFill>
                <a:latin typeface="Calibri"/>
              </a:rPr>
              <a:t>Recall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3900" y="2717998"/>
            <a:ext cx="248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Возвращает отключившихся студентов: +79% повторных логинов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437997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ЧТО УМЕЕТ ПЛАТФОРМА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3653997"/>
            <a:ext cx="3632400" cy="1080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3743997"/>
            <a:ext cx="3344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Генерация курса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Загрузи PDF или опиши тему — через ~30 минут готов полный интерактивный урок со слайдами, голосом, квизами и симуляциями. Стоимость: менее $2 в API.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0400" y="3653997"/>
            <a:ext cx="3632400" cy="1080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4400" y="3743997"/>
            <a:ext cx="3344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Адаптивность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Движок на основе таксономии Блума и зоны ближайшего развития (ZPD). ИИ отслеживает уровень каждого студента и меняет сложность в реальном времени.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0800" y="3653997"/>
            <a:ext cx="3632400" cy="1080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4800" y="3743997"/>
            <a:ext cx="3344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Открытый код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Open-source, AGPL-3.0. Поддерживает OpenAI, Anthropic, DeepSeek, Gemini. Деплой через Docker или Vercel. Экспорт в PPTX и HTML.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8"/>
                </a:solidFill>
                <a:latin typeface="Calibri"/>
              </a:rPr>
              <a:t>MAIC —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111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3726C"/>
                </a:solidFill>
                <a:latin typeface="Calibri"/>
              </a:rPr>
              <a:t>2+ года тестирования на студентах Tsinghua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КАК РАБОТАЕТ ПАЙПЛАЙН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6600" y="1008000"/>
            <a:ext cx="2340000" cy="4680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PDF / тема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52600" y="1152000"/>
            <a:ext cx="288000" cy="180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76600" y="1008000"/>
            <a:ext cx="2340000" cy="46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Lesson Planner
(план урока)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2600" y="1152000"/>
            <a:ext cx="288000" cy="180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6600" y="1008000"/>
            <a:ext cx="2340000" cy="4680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Scene Producer
(мультимедиа)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52600" y="1152000"/>
            <a:ext cx="288000" cy="180000"/>
          </a:xfrm>
          <a:prstGeom prst="rightArrow">
            <a:avLst/>
          </a:prstGeom>
          <a:solidFill>
            <a:srgbClr val="9C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6600" y="1008000"/>
            <a:ext cx="2340000" cy="468000"/>
          </a:xfrm>
          <a:prstGeom prst="roundRect">
            <a:avLst>
              <a:gd name="adj" fmla="val 6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8"/>
                </a:solidFill>
                <a:latin typeface="Calibri"/>
              </a:rPr>
              <a:t>Интерактивный класс
(28+ типов действий)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656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МАСШТАБ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1872000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1962000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Студентов охвачено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90 000+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к декабрю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5300" y="1872000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9300" y="1962000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Учебных записей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100 000+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реальные взаимодействия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0600" y="1872000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4600" y="1962000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Удовлетворённость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84–92%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среди активных пользователей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5900" y="1872000"/>
            <a:ext cx="2697300" cy="756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9900" y="1962000"/>
            <a:ext cx="2409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GitHub звёзды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A1A18"/>
                </a:solidFill>
                <a:latin typeface="Calibri"/>
              </a:rPr>
              <a:t>13 300+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C9A92"/>
                </a:solidFill>
                <a:latin typeface="Calibri"/>
              </a:rPr>
              <a:t>за 2 недели после релиза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77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КЛЮЧЕВОЙ РЕЗУЛЬТАТ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2988000"/>
            <a:ext cx="3632400" cy="1007999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000" y="3078000"/>
            <a:ext cx="1562400" cy="198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F5E5A"/>
                </a:solidFill>
                <a:latin typeface="Calibri"/>
              </a:rPr>
              <a:t>Традиционный MOOC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3330000"/>
            <a:ext cx="341640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Пассивный просмотр. Менее 10% досматривают до конца.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0400" y="2988000"/>
            <a:ext cx="3632400" cy="1007999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8400" y="3078000"/>
            <a:ext cx="1404000" cy="198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F6E56"/>
                </a:solidFill>
                <a:latin typeface="Calibri"/>
              </a:rPr>
              <a:t>MAIC — ИИ-класс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8400" y="3330000"/>
            <a:ext cx="341640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Значимо лучше MOOC. Сопоставимо с живым преподавателем при масштабировании на тысячи студентов.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0800" y="2988000"/>
            <a:ext cx="3632400" cy="1007999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800" y="3078000"/>
            <a:ext cx="849600" cy="1980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34AB7"/>
                </a:solidFill>
                <a:latin typeface="Calibri"/>
              </a:rPr>
              <a:t>Открытие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800" y="3330000"/>
            <a:ext cx="341640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726C"/>
                </a:solidFill>
                <a:latin typeface="Calibri"/>
              </a:rPr>
              <a:t>Студенты с низким начальным уровнем опирались на совместное построение знаний с агентами — и показали наибольший прирост.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4139999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3726C"/>
                </a:solidFill>
                <a:latin typeface="Calibri"/>
              </a:rPr>
              <a:t>ПУБЛИКАЦИИ И ПРИЗНАНИЕ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" y="4355999"/>
            <a:ext cx="5502600" cy="864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000" y="4445999"/>
            <a:ext cx="52146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Публикации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From MOOC to MAIC — JCST 2026  /  SimClass — NAACL 2025  /  Slide2Lecture — KDD 2025  /  AI as Learning Partners — ICLS 2025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0600" y="4355999"/>
            <a:ext cx="5502600" cy="8640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4600" y="4445999"/>
            <a:ext cx="52146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8"/>
                </a:solidFill>
                <a:latin typeface="Calibri"/>
              </a:rPr>
              <a:t>Государственное признание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3726C"/>
                </a:solidFill>
                <a:latin typeface="Calibri"/>
              </a:rPr>
              <a:t>В марте 2025 MAIC вошла в число первых приложений на национальной платформе «умного образования» Китая (国家智慧教育公共服务平台).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